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5" r:id="rId5"/>
    <p:sldId id="259" r:id="rId6"/>
    <p:sldId id="266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FCE-47B5-A5FB-C67BBC999A6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4FCE-47B5-A5FB-C67BBC999A6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FCE-47B5-A5FB-C67BBC999A6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4FCE-47B5-A5FB-C67BBC999A6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FCE-47B5-A5FB-C67BBC999A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Tabelle1!$A$2:$A$6</c:f>
              <c:strCache>
                <c:ptCount val="5"/>
                <c:pt idx="0">
                  <c:v>Oil</c:v>
                </c:pt>
                <c:pt idx="1">
                  <c:v>Gas</c:v>
                </c:pt>
                <c:pt idx="2">
                  <c:v>Wood</c:v>
                </c:pt>
                <c:pt idx="3">
                  <c:v>Air-source 
heat pump</c:v>
                </c:pt>
                <c:pt idx="4">
                  <c:v>Ground-source 
heat pump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75</c:v>
                </c:pt>
                <c:pt idx="1">
                  <c:v>85</c:v>
                </c:pt>
                <c:pt idx="2">
                  <c:v>93</c:v>
                </c:pt>
                <c:pt idx="3">
                  <c:v>300</c:v>
                </c:pt>
                <c:pt idx="4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CE-47B5-A5FB-C67BBC999A6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Oil</c:v>
                </c:pt>
                <c:pt idx="1">
                  <c:v>Gas</c:v>
                </c:pt>
                <c:pt idx="2">
                  <c:v>Wood</c:v>
                </c:pt>
                <c:pt idx="3">
                  <c:v>Air-source 
heat pump</c:v>
                </c:pt>
                <c:pt idx="4">
                  <c:v>Ground-source 
heat pump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4FCE-47B5-A5FB-C67BBC999A6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Spalte2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Oil</c:v>
                </c:pt>
                <c:pt idx="1">
                  <c:v>Gas</c:v>
                </c:pt>
                <c:pt idx="2">
                  <c:v>Wood</c:v>
                </c:pt>
                <c:pt idx="3">
                  <c:v>Air-source 
heat pump</c:v>
                </c:pt>
                <c:pt idx="4">
                  <c:v>Ground-source 
heat pump</c:v>
                </c:pt>
              </c:strCache>
            </c:strRef>
          </c:cat>
          <c:val>
            <c:numRef>
              <c:f>Tabelle1!$D$2:$D$6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FCE-47B5-A5FB-C67BBC999A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04108544"/>
        <c:axId val="1704113344"/>
      </c:barChart>
      <c:catAx>
        <c:axId val="170410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1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04113344"/>
        <c:crosses val="autoZero"/>
        <c:auto val="1"/>
        <c:lblAlgn val="ctr"/>
        <c:lblOffset val="100"/>
        <c:noMultiLvlLbl val="0"/>
      </c:catAx>
      <c:valAx>
        <c:axId val="1704113344"/>
        <c:scaling>
          <c:orientation val="minMax"/>
          <c:max val="4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500" dirty="0"/>
                  <a:t>Efficiency</a:t>
                </a:r>
                <a:r>
                  <a:rPr lang="en-US" sz="2500" baseline="0" dirty="0"/>
                  <a:t> in %</a:t>
                </a:r>
                <a:endParaRPr lang="en-US" sz="25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041085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FCE-47B5-A5FB-C67BBC999A6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4FCE-47B5-A5FB-C67BBC999A6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FCE-47B5-A5FB-C67BBC999A6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4FCE-47B5-A5FB-C67BBC999A6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FCE-47B5-A5FB-C67BBC999A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Tabelle1!$A$2:$A$6</c:f>
              <c:strCache>
                <c:ptCount val="5"/>
                <c:pt idx="0">
                  <c:v>Öl</c:v>
                </c:pt>
                <c:pt idx="1">
                  <c:v>Gas</c:v>
                </c:pt>
                <c:pt idx="2">
                  <c:v>Holz</c:v>
                </c:pt>
                <c:pt idx="3">
                  <c:v>Luft-
Wärmepumpe</c:v>
                </c:pt>
                <c:pt idx="4">
                  <c:v>Erd-
Wärmepumpe</c:v>
                </c:pt>
              </c:strCache>
            </c:str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75</c:v>
                </c:pt>
                <c:pt idx="1">
                  <c:v>85</c:v>
                </c:pt>
                <c:pt idx="2">
                  <c:v>93</c:v>
                </c:pt>
                <c:pt idx="3">
                  <c:v>300</c:v>
                </c:pt>
                <c:pt idx="4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CE-47B5-A5FB-C67BBC999A6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Öl</c:v>
                </c:pt>
                <c:pt idx="1">
                  <c:v>Gas</c:v>
                </c:pt>
                <c:pt idx="2">
                  <c:v>Holz</c:v>
                </c:pt>
                <c:pt idx="3">
                  <c:v>Luft-
Wärmepumpe</c:v>
                </c:pt>
                <c:pt idx="4">
                  <c:v>Erd-
Wärmepumpe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4FCE-47B5-A5FB-C67BBC999A6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Spalte2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Öl</c:v>
                </c:pt>
                <c:pt idx="1">
                  <c:v>Gas</c:v>
                </c:pt>
                <c:pt idx="2">
                  <c:v>Holz</c:v>
                </c:pt>
                <c:pt idx="3">
                  <c:v>Luft-
Wärmepumpe</c:v>
                </c:pt>
                <c:pt idx="4">
                  <c:v>Erd-
Wärmepumpe</c:v>
                </c:pt>
              </c:strCache>
            </c:strRef>
          </c:cat>
          <c:val>
            <c:numRef>
              <c:f>Tabelle1!$D$2:$D$6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FCE-47B5-A5FB-C67BBC999A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04108544"/>
        <c:axId val="1704113344"/>
      </c:barChart>
      <c:catAx>
        <c:axId val="170410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21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04113344"/>
        <c:crosses val="autoZero"/>
        <c:auto val="1"/>
        <c:lblAlgn val="ctr"/>
        <c:lblOffset val="100"/>
        <c:noMultiLvlLbl val="0"/>
      </c:catAx>
      <c:valAx>
        <c:axId val="1704113344"/>
        <c:scaling>
          <c:orientation val="minMax"/>
          <c:max val="4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sz="2800" b="0" i="0" u="none" strike="noStrike" kern="1200" baseline="0" noProof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Effizienz</a:t>
                </a:r>
                <a:r>
                  <a:rPr lang="en-US" sz="2500" baseline="0" dirty="0"/>
                  <a:t> in %</a:t>
                </a:r>
                <a:endParaRPr lang="en-US" sz="25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041085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DD-4FF5-BCC3-45E40CC5B0ED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2CDD-4FF5-BCC3-45E40CC5B0ED}"/>
              </c:ext>
            </c:extLst>
          </c:dPt>
          <c:dPt>
            <c:idx val="2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CDD-4FF5-BCC3-45E40CC5B0ED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DD-4FF5-BCC3-45E40CC5B0ED}"/>
              </c:ext>
            </c:extLst>
          </c:dPt>
          <c:dPt>
            <c:idx val="4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CDD-4FF5-BCC3-45E40CC5B0ED}"/>
              </c:ext>
            </c:extLst>
          </c:dPt>
          <c:dPt>
            <c:idx val="5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DD-4FF5-BCC3-45E40CC5B0ED}"/>
              </c:ext>
            </c:extLst>
          </c:dPt>
          <c:dLbls>
            <c:dLbl>
              <c:idx val="0"/>
              <c:layout>
                <c:manualLayout>
                  <c:x val="-4.0625000000000001E-2"/>
                  <c:y val="-2.3437498558224745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DD-4FF5-BCC3-45E40CC5B0ED}"/>
                </c:ext>
              </c:extLst>
            </c:dLbl>
            <c:dLbl>
              <c:idx val="1"/>
              <c:layout>
                <c:manualLayout>
                  <c:x val="-3.5937500000000004E-2"/>
                  <c:y val="1.874999884657979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499175688976377"/>
                      <c:h val="0.2060992122232276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CDD-4FF5-BCC3-45E40CC5B0ED}"/>
                </c:ext>
              </c:extLst>
            </c:dLbl>
            <c:dLbl>
              <c:idx val="2"/>
              <c:layout>
                <c:manualLayout>
                  <c:x val="-8.1250000000000003E-2"/>
                  <c:y val="1.1718749279112373E-2"/>
                </c:manualLayout>
              </c:layout>
              <c:numFmt formatCode="0%" sourceLinked="0"/>
              <c:spPr>
                <a:solidFill>
                  <a:prstClr val="white"/>
                </a:solidFill>
                <a:ln w="9525" cap="flat" cmpd="sng" algn="ctr">
                  <a:solidFill>
                    <a:prstClr val="black">
                      <a:lumMod val="25000"/>
                      <a:lumOff val="7500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97825"/>
                        <a:gd name="adj2" fmla="val 46462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4-2CDD-4FF5-BCC3-45E40CC5B0ED}"/>
                </c:ext>
              </c:extLst>
            </c:dLbl>
            <c:dLbl>
              <c:idx val="3"/>
              <c:layout>
                <c:manualLayout>
                  <c:x val="-2.6562500000000058E-2"/>
                  <c:y val="4.6874997116449491E-3"/>
                </c:manualLayout>
              </c:layout>
              <c:tx>
                <c:rich>
                  <a:bodyPr/>
                  <a:lstStyle/>
                  <a:p>
                    <a:r>
                      <a:rPr lang="en-US" baseline="0" dirty="0"/>
                      <a:t>Other
</a:t>
                    </a:r>
                    <a:fld id="{8BF79363-4214-4986-856A-AB287B31E065}" type="PERCENTAGE">
                      <a:rPr lang="en-US" baseline="0"/>
                      <a:pPr/>
                      <a:t>[PROZENTSATZ]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CDD-4FF5-BCC3-45E40CC5B0ED}"/>
                </c:ext>
              </c:extLst>
            </c:dLbl>
            <c:dLbl>
              <c:idx val="4"/>
              <c:layout>
                <c:manualLayout>
                  <c:x val="0.12656249999999999"/>
                  <c:y val="9.3749994232898981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CDD-4FF5-BCC3-45E40CC5B0ED}"/>
                </c:ext>
              </c:extLst>
            </c:dLbl>
            <c:numFmt formatCode="0%" sourceLinked="0"/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7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Tabelle1!$A$2:$A$7</c:f>
              <c:strCache>
                <c:ptCount val="6"/>
                <c:pt idx="0">
                  <c:v>Water heating</c:v>
                </c:pt>
                <c:pt idx="1">
                  <c:v>Lighting and electrical appliances</c:v>
                </c:pt>
                <c:pt idx="2">
                  <c:v>Cooking</c:v>
                </c:pt>
                <c:pt idx="3">
                  <c:v>Other end use</c:v>
                </c:pt>
                <c:pt idx="4">
                  <c:v>Space cooling</c:v>
                </c:pt>
                <c:pt idx="5">
                  <c:v>Space heating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14.9</c:v>
                </c:pt>
                <c:pt idx="1">
                  <c:v>13.9</c:v>
                </c:pt>
                <c:pt idx="2">
                  <c:v>6.3</c:v>
                </c:pt>
                <c:pt idx="3">
                  <c:v>0.9</c:v>
                </c:pt>
                <c:pt idx="4">
                  <c:v>0.6</c:v>
                </c:pt>
                <c:pt idx="5">
                  <c:v>63.5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DD-4FF5-BCC3-45E40CC5B0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3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de-DE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DD-4FF5-BCC3-45E40CC5B0ED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2CDD-4FF5-BCC3-45E40CC5B0ED}"/>
              </c:ext>
            </c:extLst>
          </c:dPt>
          <c:dPt>
            <c:idx val="2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CDD-4FF5-BCC3-45E40CC5B0ED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DD-4FF5-BCC3-45E40CC5B0ED}"/>
              </c:ext>
            </c:extLst>
          </c:dPt>
          <c:dPt>
            <c:idx val="4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CDD-4FF5-BCC3-45E40CC5B0ED}"/>
              </c:ext>
            </c:extLst>
          </c:dPt>
          <c:dPt>
            <c:idx val="5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DD-4FF5-BCC3-45E40CC5B0ED}"/>
              </c:ext>
            </c:extLst>
          </c:dPt>
          <c:dLbls>
            <c:dLbl>
              <c:idx val="0"/>
              <c:layout>
                <c:manualLayout>
                  <c:x val="-4.0625000000000001E-2"/>
                  <c:y val="-2.3437498558224745E-3"/>
                </c:manualLayout>
              </c:layout>
              <c:tx>
                <c:rich>
                  <a:bodyPr rot="0" spcFirstLastPara="1" vertOverflow="clip" horzOverflow="clip" vert="horz" wrap="square" lIns="36576" tIns="18288" rIns="36576" bIns="18288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700" b="0" i="0" u="none" strike="noStrike" kern="1200" baseline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700" b="0" i="0" u="none" strike="noStrike" kern="1200" baseline="0" dirty="0" err="1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</a:rPr>
                      <a:t>Warmwasser</a:t>
                    </a:r>
                    <a:r>
                      <a:rPr lang="en-US" sz="1700" b="0" i="0" u="none" strike="noStrike" kern="1200" baseline="0" dirty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</a:rPr>
                      <a:t>
15%</a:t>
                    </a:r>
                  </a:p>
                </c:rich>
              </c:tx>
              <c:numFmt formatCode="0%" sourceLinked="0"/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700" b="0" i="0" u="none" strike="noStrike" kern="1200" baseline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2CDD-4FF5-BCC3-45E40CC5B0ED}"/>
                </c:ext>
              </c:extLst>
            </c:dLbl>
            <c:dLbl>
              <c:idx val="1"/>
              <c:layout>
                <c:manualLayout>
                  <c:x val="-3.5937500000000004E-2"/>
                  <c:y val="1.8749998846579796E-2"/>
                </c:manualLayout>
              </c:layout>
              <c:tx>
                <c:rich>
                  <a:bodyPr rot="0" spcFirstLastPara="1" vertOverflow="clip" horzOverflow="clip" vert="horz" wrap="square" lIns="36576" tIns="18288" rIns="36576" bIns="18288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700" b="0" i="0" u="none" strike="noStrike" kern="1200" baseline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de-DE" sz="1700" dirty="0"/>
                      <a:t>Beleuchtung</a:t>
                    </a:r>
                    <a:r>
                      <a:rPr lang="de-DE" sz="1700" baseline="0" dirty="0"/>
                      <a:t> und elektrische Geräte
</a:t>
                    </a:r>
                    <a:fld id="{9F72BFDC-F248-48FB-92A1-266FD7FADAEF}" type="PERCENTAGE">
                      <a:rPr lang="de-DE" sz="1700" baseline="0" dirty="0"/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</a:defRPr>
                      </a:pPr>
                      <a:t>[PROZENTSATZ]</a:t>
                    </a:fld>
                    <a:endParaRPr lang="de-DE" sz="1700" baseline="0" dirty="0"/>
                  </a:p>
                </c:rich>
              </c:tx>
              <c:numFmt formatCode="0%" sourceLinked="0"/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700" b="0" i="0" u="none" strike="noStrike" kern="1200" baseline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1499175688976377"/>
                      <c:h val="0.2060992122232276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2CDD-4FF5-BCC3-45E40CC5B0ED}"/>
                </c:ext>
              </c:extLst>
            </c:dLbl>
            <c:dLbl>
              <c:idx val="2"/>
              <c:layout>
                <c:manualLayout>
                  <c:x val="-8.1250000000000003E-2"/>
                  <c:y val="1.1718749279112373E-2"/>
                </c:manualLayout>
              </c:layout>
              <c:tx>
                <c:rich>
                  <a:bodyPr rot="0" spcFirstLastPara="1" vertOverflow="clip" horzOverflow="clip" vert="horz" wrap="square" lIns="36576" tIns="18288" rIns="36576" bIns="18288" anchor="ctr" anchorCtr="1">
                    <a:spAutoFit/>
                  </a:bodyPr>
                  <a:lstStyle/>
                  <a:p>
                    <a:pPr>
                      <a:defRPr sz="1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700" dirty="0" err="1"/>
                      <a:t>Kochen</a:t>
                    </a:r>
                    <a:r>
                      <a:rPr lang="en-US" sz="1700" baseline="0" dirty="0"/>
                      <a:t>
</a:t>
                    </a:r>
                    <a:fld id="{4BDBE41A-CB0F-4C75-A478-78E232456BE0}" type="PERCENTAGE">
                      <a:rPr lang="en-US" sz="1700" baseline="0"/>
                      <a:pPr>
                        <a:defRPr sz="1700"/>
                      </a:pPr>
                      <a:t>[PROZENTSATZ]</a:t>
                    </a:fld>
                    <a:endParaRPr lang="en-US" sz="1700" baseline="0" dirty="0"/>
                  </a:p>
                </c:rich>
              </c:tx>
              <c:numFmt formatCode="0%" sourceLinked="0"/>
              <c:spPr>
                <a:solidFill>
                  <a:prstClr val="white"/>
                </a:solidFill>
                <a:ln w="9525" cap="flat" cmpd="sng" algn="ctr">
                  <a:solidFill>
                    <a:prstClr val="black">
                      <a:lumMod val="25000"/>
                      <a:lumOff val="7500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106007"/>
                        <a:gd name="adj2" fmla="val 57361"/>
                      </a:avLst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2CDD-4FF5-BCC3-45E40CC5B0ED}"/>
                </c:ext>
              </c:extLst>
            </c:dLbl>
            <c:dLbl>
              <c:idx val="3"/>
              <c:layout>
                <c:manualLayout>
                  <c:x val="-1.7187500000000057E-2"/>
                  <c:y val="4.6874997116449491E-3"/>
                </c:manualLayout>
              </c:layout>
              <c:tx>
                <c:rich>
                  <a:bodyPr/>
                  <a:lstStyle/>
                  <a:p>
                    <a:r>
                      <a:rPr lang="en-US" baseline="0" dirty="0" err="1"/>
                      <a:t>Sonstiges</a:t>
                    </a:r>
                    <a:r>
                      <a:rPr lang="en-US" baseline="0" dirty="0"/>
                      <a:t>
</a:t>
                    </a:r>
                    <a:fld id="{8BF79363-4214-4986-856A-AB287B31E065}" type="PERCENTAGE">
                      <a:rPr lang="en-US" baseline="0"/>
                      <a:pPr/>
                      <a:t>[PROZENTSATZ]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CDD-4FF5-BCC3-45E40CC5B0ED}"/>
                </c:ext>
              </c:extLst>
            </c:dLbl>
            <c:dLbl>
              <c:idx val="4"/>
              <c:layout>
                <c:manualLayout>
                  <c:x val="0.17656250000000001"/>
                  <c:y val="4.6874997116449491E-3"/>
                </c:manualLayout>
              </c:layout>
              <c:tx>
                <c:rich>
                  <a:bodyPr rot="0" spcFirstLastPara="1" vertOverflow="clip" horzOverflow="clip" vert="horz" wrap="square" lIns="36576" tIns="18288" rIns="36576" bIns="18288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700" b="0" i="0" u="none" strike="noStrike" kern="1200" baseline="0"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700" dirty="0" err="1"/>
                      <a:t>Klimatisierung</a:t>
                    </a:r>
                    <a:r>
                      <a:rPr lang="en-US" sz="1700" baseline="0" dirty="0"/>
                      <a:t>
</a:t>
                    </a:r>
                    <a:fld id="{0FDDD5BB-BA47-4F76-BD18-27B52C935BB7}" type="PERCENTAGE">
                      <a:rPr lang="en-US" sz="1700" baseline="0" dirty="0"/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700"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</a:defRPr>
                      </a:pPr>
                      <a:t>[PROZENTSATZ]</a:t>
                    </a:fld>
                    <a:endParaRPr lang="en-US" sz="1700" baseline="0" dirty="0"/>
                  </a:p>
                </c:rich>
              </c:tx>
              <c:numFmt formatCode="0%" sourceLinked="0"/>
              <c:spPr>
                <a:solidFill>
                  <a:prstClr val="white"/>
                </a:solidFill>
                <a:ln w="9525" cap="flat" cmpd="sng" algn="ctr">
                  <a:solidFill>
                    <a:prstClr val="black">
                      <a:lumMod val="25000"/>
                      <a:lumOff val="7500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700" b="0" i="0" u="none" strike="noStrike" kern="1200" baseline="0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10213"/>
                        <a:gd name="adj2" fmla="val 66089"/>
                      </a:avLst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CDD-4FF5-BCC3-45E40CC5B0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baseline="0"/>
                      <a:t>Heizen</a:t>
                    </a:r>
                    <a:r>
                      <a:rPr lang="en-US" baseline="0" dirty="0"/>
                      <a:t>
</a:t>
                    </a:r>
                    <a:fld id="{FC67DDF6-DF07-487A-BF58-7693021961E0}" type="PERCENTAGE">
                      <a:rPr lang="en-US" baseline="0"/>
                      <a:pPr/>
                      <a:t>[PROZENTSATZ]</a:t>
                    </a:fld>
                    <a:endParaRPr lang="en-US" baseline="0" dirty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CDD-4FF5-BCC3-45E40CC5B0ED}"/>
                </c:ext>
              </c:extLst>
            </c:dLbl>
            <c:numFmt formatCode="0%" sourceLinked="0"/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7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Tabelle1!$A$2:$A$7</c:f>
              <c:strCache>
                <c:ptCount val="6"/>
                <c:pt idx="0">
                  <c:v>Water heating</c:v>
                </c:pt>
                <c:pt idx="1">
                  <c:v>Lighting and electrical appliances</c:v>
                </c:pt>
                <c:pt idx="2">
                  <c:v>Cooking</c:v>
                </c:pt>
                <c:pt idx="3">
                  <c:v>Other end use</c:v>
                </c:pt>
                <c:pt idx="4">
                  <c:v>Space cooling</c:v>
                </c:pt>
                <c:pt idx="5">
                  <c:v>Space heating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14.9</c:v>
                </c:pt>
                <c:pt idx="1">
                  <c:v>13.9</c:v>
                </c:pt>
                <c:pt idx="2">
                  <c:v>6.3</c:v>
                </c:pt>
                <c:pt idx="3">
                  <c:v>0.9</c:v>
                </c:pt>
                <c:pt idx="4">
                  <c:v>0.6</c:v>
                </c:pt>
                <c:pt idx="5">
                  <c:v>63.5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DD-4FF5-BCC3-45E40CC5B0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3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de-DE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DD-4FF5-BCC3-45E40CC5B0E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2CDD-4FF5-BCC3-45E40CC5B0ED}"/>
              </c:ext>
            </c:extLst>
          </c:dPt>
          <c:dPt>
            <c:idx val="2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CDD-4FF5-BCC3-45E40CC5B0ED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DD-4FF5-BCC3-45E40CC5B0ED}"/>
              </c:ext>
            </c:extLst>
          </c:dPt>
          <c:dPt>
            <c:idx val="4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CDD-4FF5-BCC3-45E40CC5B0ED}"/>
              </c:ext>
            </c:extLst>
          </c:dPt>
          <c:dPt>
            <c:idx val="5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DD-4FF5-BCC3-45E40CC5B0ED}"/>
              </c:ext>
            </c:extLst>
          </c:dPt>
          <c:dLbls>
            <c:dLbl>
              <c:idx val="2"/>
              <c:layout>
                <c:manualLayout>
                  <c:x val="-7.6562500000000006E-2"/>
                  <c:y val="1.640624899075732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CDD-4FF5-BCC3-45E40CC5B0ED}"/>
                </c:ext>
              </c:extLst>
            </c:dLbl>
            <c:dLbl>
              <c:idx val="3"/>
              <c:layout>
                <c:manualLayout>
                  <c:x val="-3.4375000000000003E-2"/>
                  <c:y val="4.6874997116449491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DD-4FF5-BCC3-45E40CC5B0ED}"/>
                </c:ext>
              </c:extLst>
            </c:dLbl>
            <c:dLbl>
              <c:idx val="4"/>
              <c:layout>
                <c:manualLayout>
                  <c:x val="0.10156249999999989"/>
                  <c:y val="2.3437498558224745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CDD-4FF5-BCC3-45E40CC5B0ED}"/>
                </c:ext>
              </c:extLst>
            </c:dLbl>
            <c:numFmt formatCode="0.0%" sourceLinked="0"/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Tabelle1!$A$2:$A$7</c:f>
              <c:strCache>
                <c:ptCount val="6"/>
                <c:pt idx="0">
                  <c:v>Warmwasser</c:v>
                </c:pt>
                <c:pt idx="1">
                  <c:v>Beleuchtung und elektrische Geräte</c:v>
                </c:pt>
                <c:pt idx="2">
                  <c:v>Kochen</c:v>
                </c:pt>
                <c:pt idx="3">
                  <c:v>Sonstiges</c:v>
                </c:pt>
                <c:pt idx="4">
                  <c:v>Klimatisierung</c:v>
                </c:pt>
                <c:pt idx="5">
                  <c:v>Heizen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14.9</c:v>
                </c:pt>
                <c:pt idx="1">
                  <c:v>13.9</c:v>
                </c:pt>
                <c:pt idx="2">
                  <c:v>6.3</c:v>
                </c:pt>
                <c:pt idx="3">
                  <c:v>0.9</c:v>
                </c:pt>
                <c:pt idx="4">
                  <c:v>0.6</c:v>
                </c:pt>
                <c:pt idx="5">
                  <c:v>63.5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DD-4FF5-BCC3-45E40CC5B0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3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0.27995</cdr:x>
      <cdr:y>0.45355</cdr:y>
    </cdr:from>
    <cdr:to>
      <cdr:x>0.36261</cdr:x>
      <cdr:y>0.64436</cdr:y>
    </cdr:to>
    <cdr:pic>
      <cdr:nvPicPr>
        <cdr:cNvPr id="3" name="Grafik 2" descr="Ein Bild, das Design, Kunst enthält.&#10;&#10;Automatisch generierte Beschreibung">
          <a:extLst xmlns:a="http://schemas.openxmlformats.org/drawingml/2006/main">
            <a:ext uri="{FF2B5EF4-FFF2-40B4-BE49-F238E27FC236}">
              <a16:creationId xmlns:a16="http://schemas.microsoft.com/office/drawing/2014/main" id="{9E96DE3C-811A-D928-3CFE-FAFDF9E59F8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2275430" y="2457642"/>
          <a:ext cx="671897" cy="1033955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0.27995</cdr:x>
      <cdr:y>0.45355</cdr:y>
    </cdr:from>
    <cdr:to>
      <cdr:x>0.36261</cdr:x>
      <cdr:y>0.64436</cdr:y>
    </cdr:to>
    <cdr:pic>
      <cdr:nvPicPr>
        <cdr:cNvPr id="3" name="Grafik 2" descr="Ein Bild, das Design, Kunst enthält.&#10;&#10;Automatisch generierte Beschreibung">
          <a:extLst xmlns:a="http://schemas.openxmlformats.org/drawingml/2006/main">
            <a:ext uri="{FF2B5EF4-FFF2-40B4-BE49-F238E27FC236}">
              <a16:creationId xmlns:a16="http://schemas.microsoft.com/office/drawing/2014/main" id="{9E96DE3C-811A-D928-3CFE-FAFDF9E59F8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2275430" y="2457642"/>
          <a:ext cx="671897" cy="103395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30DEA-C216-4D3D-A947-89515275F5B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C7047-52F9-428C-A696-A2177C50932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77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C7047-52F9-428C-A696-A2177C5093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38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CB74E-D80E-415E-6325-CBF8FAE41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7ED5C1-3B48-E8DC-3CFA-331C8F91E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6D103-8104-C241-204B-D8C199DD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372B74-A9E6-CBF5-F345-685C6C0E7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191EB8-0509-84E9-AA44-3FB1DB58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5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68F63-5AA2-70A3-96D4-FA508F24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B3CB25-08BB-320B-BF9A-D4DC19EA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5BB147-704B-5EFA-E760-6803DF15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4060DC-BF40-54F0-0F9E-31CA4087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926F54-33FB-105B-68A6-6C9F968C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7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E10A9-F096-F376-5475-C913EBDF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0C8A42-8B2A-BDEA-6D7B-89A6D4BB6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3D76B9-DA50-70E7-D3CE-B32BFE6A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376649-F6F3-9E59-44CC-A2E690FFF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08CC22-1AFF-C743-330B-7287DD29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4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FF08D-D006-6B81-BA1D-E6AF2C4D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490DF8-B7EA-385E-6434-6058C8590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654690-FA90-6415-0660-F8FE31E5B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E2A7EC-80D6-5E8D-0795-4575CF380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81C17B-AD97-8E12-657D-BE6B512D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EF9816-E973-DB05-5746-D43DB863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5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6359BD-BB8E-05E3-DBB9-9AEBA647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C14E24-5798-6A9D-8129-A095294F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20A3CD-38B0-CE66-5EFF-1CFDF4809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CEF23B-AB73-08A6-E4E3-5058968DE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D0D4B5-5D79-FB06-E14C-7E9DE9600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0D2A44-3A94-B4BD-CD84-FB8885A8C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2ABAF88-6185-F423-704C-CDEC4855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F86BBC-073E-853D-F015-6F7526A1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6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B4350-D331-FFD4-074E-7DEC4AEE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01EAB41-2352-4AF4-A728-F0AEA30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4C3ADA-864A-3ABD-ADBD-ED100E16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CC552B-41F5-CF72-FCA5-4F2D97AE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6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B971B4C-2C80-A5DC-5707-775E90AF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07623AA-07FE-EBBC-60DE-6CAD6542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8896EA-200E-A444-1783-0798B90F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7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B8B9C-EA7B-F460-44ED-317C7C49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93AE65-3935-7174-46CE-B0CE7695B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C6AC74-B446-8E30-186F-8A40601A0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4CD109-875C-A2D1-5A42-F570119E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214D1E-8568-420A-797F-623EFD83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B51EA9-3DA6-2899-A000-DE337227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1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DE562-0C4C-01ED-3972-8B366CCD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E7F59B6-6B14-BC04-92D4-239F55F7B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F7F0A6-6782-E8EC-D6BD-A279557EE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3DE5CA-24E2-A60F-2AC9-85540EEE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00556F-7285-4C88-A35C-AAD4D7B38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E9812C-38C1-E876-32BF-7246CB52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DC505-A22F-6854-E62A-BBA433F9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9A042D-2D8C-1F26-DA53-E40EF2192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94FBDB-13D6-9384-591B-7CD64200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68BB07-B96B-7EFC-CDB7-661E26B0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F23925-4E40-72D0-ADC2-AC88B281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2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97A9F5B-CFA4-A2F5-C785-F352A6AE7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29FECF-0497-7A4D-9208-E3A3565D6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268E44-2E68-894A-F1F8-99F1F2BE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9EB77B-4B22-052E-2940-68A18EF2B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7804FA-966C-16DC-DC29-36BEC336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0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5E8041-1424-6A05-47C2-5DE23FE7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F12B46-662E-308D-7D53-077CF05FD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BC03C-4493-D49D-6C6A-FB2C0052E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41F33-A41D-49DC-A504-BD4F3552533D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734FC8-A7B6-8941-53E1-59FD74846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00850D-C1F5-E8D9-619F-CDE6007C4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383BD-4534-4CC0-BED6-D894767594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2891C-1BA5-4B0F-7480-8AF2F0A959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19C5789-6C5C-A236-D726-3976E0C89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1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0EEB7-0A1A-9F8C-0C81-A5444C89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66DC5D-870D-9592-7ABE-356BC4DB5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Consume electricity to heat up the room or the hot water tank</a:t>
            </a:r>
          </a:p>
          <a:p>
            <a:pPr lvl="1"/>
            <a:r>
              <a:rPr lang="en-US" dirty="0"/>
              <a:t>Heat button</a:t>
            </a:r>
          </a:p>
          <a:p>
            <a:pPr lvl="1"/>
            <a:r>
              <a:rPr lang="en-US" dirty="0"/>
              <a:t>Switch button</a:t>
            </a:r>
          </a:p>
          <a:p>
            <a:r>
              <a:rPr lang="en-US" dirty="0"/>
              <a:t>Only use electricity from solar and wind to save CO2</a:t>
            </a:r>
          </a:p>
          <a:p>
            <a:pPr lvl="1"/>
            <a:r>
              <a:rPr lang="en-US" dirty="0"/>
              <a:t>Solar event</a:t>
            </a:r>
          </a:p>
          <a:p>
            <a:pPr lvl="1"/>
            <a:r>
              <a:rPr lang="en-US" dirty="0"/>
              <a:t>Wind event</a:t>
            </a:r>
          </a:p>
          <a:p>
            <a:r>
              <a:rPr lang="en-US" dirty="0"/>
              <a:t>Avoid electricity from gas and coal</a:t>
            </a:r>
          </a:p>
          <a:p>
            <a:pPr lvl="1"/>
            <a:r>
              <a:rPr lang="en-US" dirty="0"/>
              <a:t>Gas event</a:t>
            </a:r>
          </a:p>
          <a:p>
            <a:pPr lvl="1"/>
            <a:r>
              <a:rPr lang="en-US" dirty="0"/>
              <a:t>Coal event</a:t>
            </a:r>
          </a:p>
          <a:p>
            <a:r>
              <a:rPr lang="en-US" dirty="0"/>
              <a:t>Air the room to get a better comfort score. This decreases the temperature in the room</a:t>
            </a:r>
          </a:p>
          <a:p>
            <a:pPr lvl="1"/>
            <a:r>
              <a:rPr lang="en-US" dirty="0"/>
              <a:t>Air button</a:t>
            </a:r>
          </a:p>
          <a:p>
            <a:r>
              <a:rPr lang="en-US" dirty="0"/>
              <a:t>Have a shower to get a better comfort score. This decreases the water in the hot water tank</a:t>
            </a:r>
          </a:p>
          <a:p>
            <a:pPr lvl="1"/>
            <a:r>
              <a:rPr lang="en-US" dirty="0"/>
              <a:t>Shower button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46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5736B8E-F262-06B4-EDF0-ACCEF1C3C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91228"/>
              </p:ext>
            </p:extLst>
          </p:nvPr>
        </p:nvGraphicFramePr>
        <p:xfrm>
          <a:off x="838200" y="1105188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35A6657C-A177-31DA-EABA-8D374B617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6658" y="5358383"/>
            <a:ext cx="734291" cy="128948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C461BDA-8D47-1A0A-71CF-D5259B283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4384" y="5456526"/>
            <a:ext cx="661170" cy="117132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4179D63-AE93-C61B-205B-27C5460525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8787" y="5456526"/>
            <a:ext cx="1320420" cy="112869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647D140D-AAF6-8093-223B-B725DA9E29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9120" y="5914361"/>
            <a:ext cx="1259860" cy="86648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9357E0B-A20D-25F2-9118-E587BB3B93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8117024" y="5387051"/>
            <a:ext cx="609257" cy="463502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D323AA98-D453-3132-13DA-F55A548030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3100" y="5376671"/>
            <a:ext cx="734292" cy="521109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D4DC4DB-2ABB-4C84-BA76-3C5DD91E1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6832" y="5914361"/>
            <a:ext cx="1259860" cy="86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5883A-6662-D564-6C1D-2DFA3809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C4C85DD4-12C7-F1B0-C723-06A3BD9779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513145"/>
              </p:ext>
            </p:extLst>
          </p:nvPr>
        </p:nvGraphicFramePr>
        <p:xfrm>
          <a:off x="838199" y="1105188"/>
          <a:ext cx="1060565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DDF3C318-16FC-0232-E763-331026679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6658" y="5358383"/>
            <a:ext cx="734291" cy="128948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E56C3CE-E5CD-5B82-EDC1-8958E8461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4384" y="5456526"/>
            <a:ext cx="661170" cy="117132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1AAD07F-C469-9F53-B7AB-455F2B9D2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8787" y="5456526"/>
            <a:ext cx="1320420" cy="112869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42285F-314C-2E84-F330-1B5EB9E0AC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9120" y="5914361"/>
            <a:ext cx="1259860" cy="86648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9CCA151-3581-037D-5F3D-383684B67A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8117024" y="5387051"/>
            <a:ext cx="609257" cy="463502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37F34ACA-2851-C80A-FEB5-32F6F145FC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3100" y="5376671"/>
            <a:ext cx="734292" cy="521109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41664515-FF35-43B4-4B8D-2B95549A70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6832" y="5914361"/>
            <a:ext cx="1259860" cy="86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3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9A3879F5-593D-BD7D-F93F-4FF188B67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2985529"/>
              </p:ext>
            </p:extLst>
          </p:nvPr>
        </p:nvGraphicFramePr>
        <p:xfrm>
          <a:off x="1644072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Grafik 2" descr="Ein Bild, das Kreis, gelb, Uhr, Astronomie enthält.&#10;&#10;Automatisch generierte Beschreibung">
            <a:extLst>
              <a:ext uri="{FF2B5EF4-FFF2-40B4-BE49-F238E27FC236}">
                <a16:creationId xmlns:a16="http://schemas.microsoft.com/office/drawing/2014/main" id="{3C1F9FA1-B34A-EF41-923F-F8D4A9DF1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106" y="1966477"/>
            <a:ext cx="633093" cy="717105"/>
          </a:xfrm>
          <a:prstGeom prst="rect">
            <a:avLst/>
          </a:prstGeom>
        </p:spPr>
      </p:pic>
      <p:pic>
        <p:nvPicPr>
          <p:cNvPr id="6" name="Grafik 5" descr="Ein Bild, das Grafiken, Schrift, Text, Design enthält.&#10;&#10;Automatisch generierte Beschreibung">
            <a:extLst>
              <a:ext uri="{FF2B5EF4-FFF2-40B4-BE49-F238E27FC236}">
                <a16:creationId xmlns:a16="http://schemas.microsoft.com/office/drawing/2014/main" id="{D897554F-1519-9751-8DA2-B996C9695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97017"/>
            <a:ext cx="1305503" cy="1463964"/>
          </a:xfrm>
          <a:prstGeom prst="rect">
            <a:avLst/>
          </a:prstGeom>
        </p:spPr>
      </p:pic>
      <p:pic>
        <p:nvPicPr>
          <p:cNvPr id="8" name="Grafik 7" descr="Ein Bild, das Grafiken enthält.&#10;&#10;Automatisch generierte Beschreibung">
            <a:extLst>
              <a:ext uri="{FF2B5EF4-FFF2-40B4-BE49-F238E27FC236}">
                <a16:creationId xmlns:a16="http://schemas.microsoft.com/office/drawing/2014/main" id="{EC87B295-0F3B-FF3D-4D57-4A8D838DD4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004" y="1611522"/>
            <a:ext cx="581051" cy="29126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CA6717C-84FD-DE75-7044-B6ED541743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03755" y="2453587"/>
            <a:ext cx="581050" cy="68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1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325C-91BA-5EE0-D13A-10174F76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68C5B618-9A86-CBDC-07E5-627972814F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6345571"/>
              </p:ext>
            </p:extLst>
          </p:nvPr>
        </p:nvGraphicFramePr>
        <p:xfrm>
          <a:off x="1644072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Grafik 5" descr="Ein Bild, das Grafiken, Schrift, Text, Design enthält.&#10;&#10;Automatisch generierte Beschreibung">
            <a:extLst>
              <a:ext uri="{FF2B5EF4-FFF2-40B4-BE49-F238E27FC236}">
                <a16:creationId xmlns:a16="http://schemas.microsoft.com/office/drawing/2014/main" id="{279C021B-DAEB-6EEC-593D-745DDE912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97017"/>
            <a:ext cx="1305503" cy="1463964"/>
          </a:xfrm>
          <a:prstGeom prst="rect">
            <a:avLst/>
          </a:prstGeom>
        </p:spPr>
      </p:pic>
      <p:pic>
        <p:nvPicPr>
          <p:cNvPr id="8" name="Grafik 7" descr="Ein Bild, das Grafiken enthält.&#10;&#10;Automatisch generierte Beschreibung">
            <a:extLst>
              <a:ext uri="{FF2B5EF4-FFF2-40B4-BE49-F238E27FC236}">
                <a16:creationId xmlns:a16="http://schemas.microsoft.com/office/drawing/2014/main" id="{EE6609DE-BB0D-D766-B707-4A387B7AC9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004" y="1611522"/>
            <a:ext cx="581051" cy="291261"/>
          </a:xfrm>
          <a:prstGeom prst="rect">
            <a:avLst/>
          </a:prstGeom>
        </p:spPr>
      </p:pic>
      <p:pic>
        <p:nvPicPr>
          <p:cNvPr id="2" name="Grafik 1" descr="Ein Bild, das Kreis, gelb, Uhr, Astronomie enthält.&#10;&#10;Automatisch generierte Beschreibung">
            <a:extLst>
              <a:ext uri="{FF2B5EF4-FFF2-40B4-BE49-F238E27FC236}">
                <a16:creationId xmlns:a16="http://schemas.microsoft.com/office/drawing/2014/main" id="{3C66802E-032F-52B1-FC3F-1470021D8A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106" y="1966477"/>
            <a:ext cx="633093" cy="71710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DBBC818-8B56-4DE5-B29F-19775F9B32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03755" y="2453587"/>
            <a:ext cx="581050" cy="68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6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9A3879F5-593D-BD7D-F93F-4FF188B67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592248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7966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87C502F-EB5E-D9C4-7347-A7803E27F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462" y="3706782"/>
            <a:ext cx="1326820" cy="183543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B90B2DE-A858-6756-FBC1-0D577D02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297" y="3706782"/>
            <a:ext cx="1326820" cy="183543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502DB2A-F12B-A388-AFDE-658594EC1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740" y="3706782"/>
            <a:ext cx="1326820" cy="183543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4AB6990-C832-B21A-1462-39CF1BCF6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308" y="3706782"/>
            <a:ext cx="1326820" cy="1835434"/>
          </a:xfrm>
          <a:prstGeom prst="rect">
            <a:avLst/>
          </a:prstGeom>
        </p:spPr>
      </p:pic>
      <p:pic>
        <p:nvPicPr>
          <p:cNvPr id="12" name="Grafik 11" descr="Ein Bild, das weiß, Clipart, Kunst enthält.&#10;&#10;Automatisch generierte Beschreibung">
            <a:extLst>
              <a:ext uri="{FF2B5EF4-FFF2-40B4-BE49-F238E27FC236}">
                <a16:creationId xmlns:a16="http://schemas.microsoft.com/office/drawing/2014/main" id="{37CBB13C-DD65-DEFE-3D33-825DB36A3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128" y="4679950"/>
            <a:ext cx="397488" cy="70443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3E28891-6AC6-B583-660B-AA2456CFBD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138" y="4679950"/>
            <a:ext cx="401138" cy="70443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95D34D2-B8D2-E97B-DCF1-EBF3E2B782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0067" y="4980514"/>
            <a:ext cx="712165" cy="48980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6C61C3F-E614-E73B-7D7F-BF267E559B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739" y="536013"/>
            <a:ext cx="2357235" cy="328407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BACB9C6-2667-71E4-B21F-3449D73BA7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16703" y="4547287"/>
            <a:ext cx="494028" cy="41740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B7A09D2-76B4-DC37-FF36-4669FDC978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7635" y="4993932"/>
            <a:ext cx="712165" cy="489801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26DE5957-52AC-0135-2CCC-ADDA52B93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1520" y="888713"/>
            <a:ext cx="2092363" cy="2915057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7730A67-8C8C-1FA4-1D8D-525B626B49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469" y="2366849"/>
            <a:ext cx="1046181" cy="1457528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6784CA5-E515-B255-9EBF-442620DF2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183" y="3540614"/>
            <a:ext cx="215390" cy="30007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211ACEB-BD06-4F93-4BF7-A869DE32C15E}"/>
              </a:ext>
            </a:extLst>
          </p:cNvPr>
          <p:cNvSpPr txBox="1"/>
          <p:nvPr/>
        </p:nvSpPr>
        <p:spPr>
          <a:xfrm>
            <a:off x="1579291" y="5534024"/>
            <a:ext cx="1949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Oil</a:t>
            </a:r>
          </a:p>
          <a:p>
            <a:pPr algn="ctr"/>
            <a:r>
              <a:rPr lang="en-US" sz="2000" dirty="0"/>
              <a:t>(Efficiency 90%)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78CA606-DEC7-1D1C-5DC2-C99BDA5E44AE}"/>
              </a:ext>
            </a:extLst>
          </p:cNvPr>
          <p:cNvSpPr txBox="1"/>
          <p:nvPr/>
        </p:nvSpPr>
        <p:spPr>
          <a:xfrm>
            <a:off x="6271637" y="5542216"/>
            <a:ext cx="2068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Heat pump</a:t>
            </a:r>
          </a:p>
          <a:p>
            <a:pPr algn="ctr"/>
            <a:r>
              <a:rPr lang="en-US" sz="2000" dirty="0"/>
              <a:t>(Efficiency 380%)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881D878-8951-518A-4D3A-14D431DEF057}"/>
              </a:ext>
            </a:extLst>
          </p:cNvPr>
          <p:cNvSpPr txBox="1"/>
          <p:nvPr/>
        </p:nvSpPr>
        <p:spPr>
          <a:xfrm>
            <a:off x="8616052" y="5542216"/>
            <a:ext cx="20688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Heat pump with green electricity</a:t>
            </a:r>
          </a:p>
          <a:p>
            <a:pPr algn="ctr"/>
            <a:r>
              <a:rPr lang="en-US" sz="2000" dirty="0"/>
              <a:t>(Efficiency 380%)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55BB540-ECF8-AA26-527D-5E88E83EC1FC}"/>
              </a:ext>
            </a:extLst>
          </p:cNvPr>
          <p:cNvSpPr txBox="1"/>
          <p:nvPr/>
        </p:nvSpPr>
        <p:spPr>
          <a:xfrm>
            <a:off x="3948555" y="5542216"/>
            <a:ext cx="1949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Gas</a:t>
            </a:r>
          </a:p>
          <a:p>
            <a:pPr algn="ctr"/>
            <a:r>
              <a:rPr lang="en-US" sz="2000" dirty="0"/>
              <a:t>(Efficiency 90%)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C3E654F-BE2A-BF12-C43A-7C3ABA0FFBB9}"/>
              </a:ext>
            </a:extLst>
          </p:cNvPr>
          <p:cNvSpPr txBox="1"/>
          <p:nvPr/>
        </p:nvSpPr>
        <p:spPr>
          <a:xfrm>
            <a:off x="1632916" y="1598178"/>
            <a:ext cx="899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9.4 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36C07B1-CF56-2056-2E6A-BB00573D3DE1}"/>
              </a:ext>
            </a:extLst>
          </p:cNvPr>
          <p:cNvSpPr txBox="1"/>
          <p:nvPr/>
        </p:nvSpPr>
        <p:spPr>
          <a:xfrm>
            <a:off x="1322212" y="651905"/>
            <a:ext cx="1576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CO</a:t>
            </a:r>
            <a:r>
              <a:rPr lang="en-US" sz="6000" b="1" baseline="-25000" dirty="0"/>
              <a:t>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31FD3CD-DBA6-B63E-8A1D-934C9F98BE14}"/>
              </a:ext>
            </a:extLst>
          </p:cNvPr>
          <p:cNvSpPr txBox="1"/>
          <p:nvPr/>
        </p:nvSpPr>
        <p:spPr>
          <a:xfrm>
            <a:off x="3943859" y="1695413"/>
            <a:ext cx="1167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7.34 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9400DA5-98AA-D1CF-BE3C-C4005309C955}"/>
              </a:ext>
            </a:extLst>
          </p:cNvPr>
          <p:cNvSpPr txBox="1"/>
          <p:nvPr/>
        </p:nvSpPr>
        <p:spPr>
          <a:xfrm>
            <a:off x="3843809" y="1006338"/>
            <a:ext cx="1858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CO</a:t>
            </a:r>
            <a:r>
              <a:rPr lang="en-US" sz="4800" b="1" baseline="-25000" dirty="0"/>
              <a:t>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D877317-921C-6972-A516-1FAEEA18FFA5}"/>
              </a:ext>
            </a:extLst>
          </p:cNvPr>
          <p:cNvSpPr txBox="1"/>
          <p:nvPr/>
        </p:nvSpPr>
        <p:spPr>
          <a:xfrm>
            <a:off x="6389522" y="2808306"/>
            <a:ext cx="1167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1.87 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7A9211-4234-F3B2-6617-E5698F6DE04B}"/>
              </a:ext>
            </a:extLst>
          </p:cNvPr>
          <p:cNvSpPr txBox="1"/>
          <p:nvPr/>
        </p:nvSpPr>
        <p:spPr>
          <a:xfrm>
            <a:off x="6536500" y="2453686"/>
            <a:ext cx="899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</a:t>
            </a:r>
            <a:r>
              <a:rPr lang="en-US" sz="2400" b="1" baseline="-25000" dirty="0"/>
              <a:t>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91485D6-4131-F5A0-FB02-B9B054C92608}"/>
              </a:ext>
            </a:extLst>
          </p:cNvPr>
          <p:cNvSpPr txBox="1"/>
          <p:nvPr/>
        </p:nvSpPr>
        <p:spPr>
          <a:xfrm>
            <a:off x="8674862" y="3001638"/>
            <a:ext cx="1167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0.07 t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868CBEB-6F88-4BA9-31BC-0F7BB6139137}"/>
              </a:ext>
            </a:extLst>
          </p:cNvPr>
          <p:cNvSpPr txBox="1"/>
          <p:nvPr/>
        </p:nvSpPr>
        <p:spPr>
          <a:xfrm>
            <a:off x="8858520" y="2712373"/>
            <a:ext cx="8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</a:t>
            </a:r>
            <a:r>
              <a:rPr lang="en-US" b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84236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87C502F-EB5E-D9C4-7347-A7803E27F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462" y="3706782"/>
            <a:ext cx="1326820" cy="183543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B90B2DE-A858-6756-FBC1-0D577D02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297" y="3706782"/>
            <a:ext cx="1326820" cy="183543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502DB2A-F12B-A388-AFDE-658594EC1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740" y="3706782"/>
            <a:ext cx="1326820" cy="183543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4AB6990-C832-B21A-1462-39CF1BCF6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308" y="3706782"/>
            <a:ext cx="1326820" cy="1835434"/>
          </a:xfrm>
          <a:prstGeom prst="rect">
            <a:avLst/>
          </a:prstGeom>
        </p:spPr>
      </p:pic>
      <p:pic>
        <p:nvPicPr>
          <p:cNvPr id="12" name="Grafik 11" descr="Ein Bild, das weiß, Clipart, Kunst enthält.&#10;&#10;Automatisch generierte Beschreibung">
            <a:extLst>
              <a:ext uri="{FF2B5EF4-FFF2-40B4-BE49-F238E27FC236}">
                <a16:creationId xmlns:a16="http://schemas.microsoft.com/office/drawing/2014/main" id="{37CBB13C-DD65-DEFE-3D33-825DB36A3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128" y="4679950"/>
            <a:ext cx="397488" cy="70443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3E28891-6AC6-B583-660B-AA2456CFBD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138" y="4679950"/>
            <a:ext cx="401138" cy="704434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95D34D2-B8D2-E97B-DCF1-EBF3E2B782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0067" y="4980514"/>
            <a:ext cx="712165" cy="48980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6C61C3F-E614-E73B-7D7F-BF267E559B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739" y="536013"/>
            <a:ext cx="2357235" cy="328407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BACB9C6-2667-71E4-B21F-3449D73BA7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8121" y="4547287"/>
            <a:ext cx="494028" cy="41740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B7A09D2-76B4-DC37-FF36-4669FDC978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7635" y="4993932"/>
            <a:ext cx="712165" cy="489801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26DE5957-52AC-0135-2CCC-ADDA52B93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1520" y="888713"/>
            <a:ext cx="2092363" cy="2915057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7730A67-8C8C-1FA4-1D8D-525B626B49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469" y="2366849"/>
            <a:ext cx="1046181" cy="1457528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6784CA5-E515-B255-9EBF-442620DF2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183" y="3540614"/>
            <a:ext cx="215390" cy="30007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C3E654F-BE2A-BF12-C43A-7C3ABA0FFBB9}"/>
              </a:ext>
            </a:extLst>
          </p:cNvPr>
          <p:cNvSpPr txBox="1"/>
          <p:nvPr/>
        </p:nvSpPr>
        <p:spPr>
          <a:xfrm>
            <a:off x="1632916" y="1598178"/>
            <a:ext cx="899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9,4 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36C07B1-CF56-2056-2E6A-BB00573D3DE1}"/>
              </a:ext>
            </a:extLst>
          </p:cNvPr>
          <p:cNvSpPr txBox="1"/>
          <p:nvPr/>
        </p:nvSpPr>
        <p:spPr>
          <a:xfrm>
            <a:off x="1322212" y="651905"/>
            <a:ext cx="1576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CO</a:t>
            </a:r>
            <a:r>
              <a:rPr lang="en-US" sz="6000" b="1" baseline="-25000" dirty="0"/>
              <a:t>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31FD3CD-DBA6-B63E-8A1D-934C9F98BE14}"/>
              </a:ext>
            </a:extLst>
          </p:cNvPr>
          <p:cNvSpPr txBox="1"/>
          <p:nvPr/>
        </p:nvSpPr>
        <p:spPr>
          <a:xfrm>
            <a:off x="3943859" y="1695413"/>
            <a:ext cx="1167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7,34 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9400DA5-98AA-D1CF-BE3C-C4005309C955}"/>
              </a:ext>
            </a:extLst>
          </p:cNvPr>
          <p:cNvSpPr txBox="1"/>
          <p:nvPr/>
        </p:nvSpPr>
        <p:spPr>
          <a:xfrm>
            <a:off x="3843809" y="1006338"/>
            <a:ext cx="1858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CO</a:t>
            </a:r>
            <a:r>
              <a:rPr lang="en-US" sz="4800" b="1" baseline="-25000" dirty="0"/>
              <a:t>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D877317-921C-6972-A516-1FAEEA18FFA5}"/>
              </a:ext>
            </a:extLst>
          </p:cNvPr>
          <p:cNvSpPr txBox="1"/>
          <p:nvPr/>
        </p:nvSpPr>
        <p:spPr>
          <a:xfrm>
            <a:off x="6389522" y="2808306"/>
            <a:ext cx="1167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1,87 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7A9211-4234-F3B2-6617-E5698F6DE04B}"/>
              </a:ext>
            </a:extLst>
          </p:cNvPr>
          <p:cNvSpPr txBox="1"/>
          <p:nvPr/>
        </p:nvSpPr>
        <p:spPr>
          <a:xfrm>
            <a:off x="6536500" y="2453686"/>
            <a:ext cx="899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</a:t>
            </a:r>
            <a:r>
              <a:rPr lang="en-US" sz="2400" b="1" baseline="-25000" dirty="0"/>
              <a:t>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91485D6-4131-F5A0-FB02-B9B054C92608}"/>
              </a:ext>
            </a:extLst>
          </p:cNvPr>
          <p:cNvSpPr txBox="1"/>
          <p:nvPr/>
        </p:nvSpPr>
        <p:spPr>
          <a:xfrm>
            <a:off x="8674862" y="3001638"/>
            <a:ext cx="1167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0,07 t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868CBEB-6F88-4BA9-31BC-0F7BB6139137}"/>
              </a:ext>
            </a:extLst>
          </p:cNvPr>
          <p:cNvSpPr txBox="1"/>
          <p:nvPr/>
        </p:nvSpPr>
        <p:spPr>
          <a:xfrm>
            <a:off x="8858520" y="2712373"/>
            <a:ext cx="8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</a:t>
            </a:r>
            <a:r>
              <a:rPr lang="en-US" b="1" baseline="-25000" dirty="0"/>
              <a:t>2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FDBCC4-A2E9-5B18-26F8-CAA6A15FEB0B}"/>
              </a:ext>
            </a:extLst>
          </p:cNvPr>
          <p:cNvSpPr txBox="1"/>
          <p:nvPr/>
        </p:nvSpPr>
        <p:spPr>
          <a:xfrm>
            <a:off x="1588528" y="5534024"/>
            <a:ext cx="1844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Heizöl</a:t>
            </a:r>
          </a:p>
          <a:p>
            <a:pPr algn="ctr"/>
            <a:r>
              <a:rPr lang="de-DE" sz="2000" dirty="0"/>
              <a:t>(Effizienz 90 %)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1FC5C74-3C45-7A59-6BE3-BC75A6947E9C}"/>
              </a:ext>
            </a:extLst>
          </p:cNvPr>
          <p:cNvSpPr txBox="1"/>
          <p:nvPr/>
        </p:nvSpPr>
        <p:spPr>
          <a:xfrm>
            <a:off x="6338198" y="5542216"/>
            <a:ext cx="2019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Wärmepumpe</a:t>
            </a:r>
          </a:p>
          <a:p>
            <a:pPr algn="ctr"/>
            <a:r>
              <a:rPr lang="de-DE" sz="2000" dirty="0"/>
              <a:t>(Effizienz 380 %)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C230109-5BDA-9BC4-50A1-332F36D7F5E2}"/>
              </a:ext>
            </a:extLst>
          </p:cNvPr>
          <p:cNvSpPr txBox="1"/>
          <p:nvPr/>
        </p:nvSpPr>
        <p:spPr>
          <a:xfrm>
            <a:off x="8618187" y="5542216"/>
            <a:ext cx="20193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Wärmepumpe mit Ökostrom</a:t>
            </a:r>
          </a:p>
          <a:p>
            <a:pPr algn="ctr"/>
            <a:r>
              <a:rPr lang="de-DE" sz="2000" dirty="0"/>
              <a:t>(Effizienz 380 %)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9D13913-5B09-F27B-7D1B-D96149E73BD8}"/>
              </a:ext>
            </a:extLst>
          </p:cNvPr>
          <p:cNvSpPr txBox="1"/>
          <p:nvPr/>
        </p:nvSpPr>
        <p:spPr>
          <a:xfrm>
            <a:off x="3957791" y="5542216"/>
            <a:ext cx="1844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Gas</a:t>
            </a:r>
          </a:p>
          <a:p>
            <a:pPr algn="ctr"/>
            <a:r>
              <a:rPr lang="de-DE" sz="2000" dirty="0"/>
              <a:t>(Effizienz 90 %)</a:t>
            </a:r>
          </a:p>
        </p:txBody>
      </p:sp>
    </p:spTree>
    <p:extLst>
      <p:ext uri="{BB962C8B-B14F-4D97-AF65-F5344CB8AC3E}">
        <p14:creationId xmlns:p14="http://schemas.microsoft.com/office/powerpoint/2010/main" val="949334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Breitbild</PresentationFormat>
  <Paragraphs>55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Dengiz, Thomas (IIP)</dc:creator>
  <cp:lastModifiedBy>Dengiz, Thomas</cp:lastModifiedBy>
  <cp:revision>27</cp:revision>
  <dcterms:created xsi:type="dcterms:W3CDTF">2024-09-26T07:34:03Z</dcterms:created>
  <dcterms:modified xsi:type="dcterms:W3CDTF">2025-05-30T09:22:22Z</dcterms:modified>
</cp:coreProperties>
</file>